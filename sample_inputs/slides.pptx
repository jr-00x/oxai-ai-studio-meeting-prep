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457200" cy="109728"/>
          </a:xfrm>
          <a:prstGeom prst="rect">
            <a:avLst/>
          </a:prstGeom>
          <a:solidFill>
            <a:srgbClr val="E8B54A"/>
          </a:solidFill>
          <a:ln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Acme Corp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CADCFC"/>
                </a:solidFill>
                <a:latin typeface="Calibri"/>
              </a:rPr>
              <a:t>Quarterly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Q1 2026 Review and Path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CONFIDENTIAL  ·  ACME CORP QBR  ·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385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385"/>
                </a:solidFill>
                <a:latin typeface="Calibri"/>
              </a:rPr>
              <a:t>Six blocks, 60 minutes, discussion over slides.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7627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22222B"/>
                </a:solidFill>
                <a:latin typeface="Calibri"/>
              </a:rPr>
              <a:t>Value delivered this quarter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743200"/>
            <a:ext cx="502920" cy="50292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81635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22222B"/>
                </a:solidFill>
                <a:latin typeface="Calibri"/>
              </a:rPr>
              <a:t>Usage and adoption trends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5643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22222B"/>
                </a:solidFill>
                <a:latin typeface="Calibri"/>
              </a:rPr>
              <a:t>Support and reliability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09651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22222B"/>
                </a:solidFill>
                <a:latin typeface="Calibri"/>
              </a:rPr>
              <a:t>Roadmap and 2026 vision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7365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22222B"/>
                </a:solidFill>
                <a:latin typeface="Calibri"/>
              </a:rPr>
              <a:t>Renewal and partnership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303520"/>
            <a:ext cx="502920" cy="50292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37667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22222B"/>
                </a:solidFill>
                <a:latin typeface="Calibri"/>
              </a:rPr>
              <a:t>Open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385"/>
                </a:solidFill>
                <a:latin typeface="Calibri"/>
              </a:rPr>
              <a:t>CONFIDENTIAL  ·  ACME CORP QBR  ·  APRIL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385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Calibri"/>
              </a:rPr>
              <a:t>Value delivered this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385"/>
                </a:solidFill>
                <a:latin typeface="Calibri"/>
              </a:rPr>
              <a:t>A strong Q1 on every dimension we measure.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194560"/>
            <a:ext cx="3383280" cy="292608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6607" y="2194560"/>
            <a:ext cx="3383280" cy="1371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927" y="256032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1E2761"/>
                </a:solidFill>
                <a:latin typeface="Calibri"/>
              </a:rPr>
              <a:t>2.4x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927" y="402336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222B"/>
                </a:solidFill>
                <a:latin typeface="Calibri"/>
              </a:rPr>
              <a:t>ROI demonstrated through
reduced analytics team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4207" y="2194560"/>
            <a:ext cx="3383280" cy="292608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207" y="2194560"/>
            <a:ext cx="3383280" cy="1371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527" y="256032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1E2761"/>
                </a:solidFill>
                <a:latin typeface="Calibri"/>
              </a:rPr>
              <a:t>+38%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527" y="402336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222B"/>
                </a:solidFill>
                <a:latin typeface="Calibri"/>
              </a:rPr>
              <a:t>Quarter-over-quarter
query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1807" y="2194560"/>
            <a:ext cx="3383280" cy="292608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1807" y="2194560"/>
            <a:ext cx="3383280" cy="1371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127" y="256032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1E2761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127" y="402336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222B"/>
                </a:solidFill>
                <a:latin typeface="Calibri"/>
              </a:rPr>
              <a:t>New dashboards deployed
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385"/>
                </a:solidFill>
                <a:latin typeface="Calibri"/>
              </a:rPr>
              <a:t>CONFIDENTIAL  ·  ACME CORP QBR  ·  APRIL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385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Calibri"/>
              </a:rPr>
              <a:t>Usage and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385"/>
                </a:solidFill>
                <a:latin typeface="Calibri"/>
              </a:rPr>
              <a:t>Growth across every cohort we track.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2222B"/>
                </a:solidFill>
                <a:latin typeface="Calibri"/>
              </a:rPr>
              <a:t>•  Monthly active users up 12% QoQ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B"/>
                </a:solidFill>
                <a:latin typeface="Calibri"/>
              </a:rPr>
              <a:t>•  Power user cohort growing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B"/>
                </a:solidFill>
                <a:latin typeface="Calibri"/>
              </a:rPr>
              <a:t>•  Query volume up 38% QoQ — broadening, not just deepening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B"/>
                </a:solidFill>
                <a:latin typeface="Calibri"/>
              </a:rPr>
              <a:t>•  Dashboard creation velocity at an all-time high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2222B"/>
                </a:solidFill>
                <a:latin typeface="Calibri"/>
              </a:rPr>
              <a:t>•  Self-serve adoption expanding beyond the core data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2286000"/>
            <a:ext cx="4754880" cy="384048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4688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Monthly Active Users — trailing 4 quarters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4096512"/>
            <a:ext cx="822960" cy="1481328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5623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385"/>
                </a:solidFill>
                <a:latin typeface="Calibri"/>
              </a:rPr>
              <a:t>Q2'25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3849624"/>
            <a:ext cx="822960" cy="1728216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5623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385"/>
                </a:solidFill>
                <a:latin typeface="Calibri"/>
              </a:rPr>
              <a:t>Q3'25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3520440"/>
            <a:ext cx="822960" cy="20574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5623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385"/>
                </a:solidFill>
                <a:latin typeface="Calibri"/>
              </a:rPr>
              <a:t>Q4'25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87000" y="3273552"/>
            <a:ext cx="822960" cy="2304288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0" y="5623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385"/>
                </a:solidFill>
                <a:latin typeface="Calibri"/>
              </a:rPr>
              <a:t>Q1'26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385"/>
                </a:solidFill>
                <a:latin typeface="Calibri"/>
              </a:rPr>
              <a:t>CONFIDENTIAL  ·  ACME CORP QBR  ·  APRIL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385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Calibri"/>
              </a:rPr>
              <a:t>Support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385"/>
                </a:solidFill>
                <a:latin typeface="Calibri"/>
              </a:rPr>
              <a:t>A platform Acme can build 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194560"/>
            <a:ext cx="3383280" cy="292608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6607" y="2194560"/>
            <a:ext cx="3383280" cy="1371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927" y="256032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1E2761"/>
                </a:solidFill>
                <a:latin typeface="Calibri"/>
              </a:rPr>
              <a:t>99.2%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927" y="41148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222B"/>
                </a:solidFill>
                <a:latin typeface="Calibri"/>
              </a:rPr>
              <a:t>Uptime delivered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4207" y="2194560"/>
            <a:ext cx="3383280" cy="292608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207" y="2194560"/>
            <a:ext cx="3383280" cy="1371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527" y="256032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1E2761"/>
                </a:solidFill>
                <a:latin typeface="Calibri"/>
              </a:rPr>
              <a:t>18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527" y="41148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222B"/>
                </a:solidFill>
                <a:latin typeface="Calibri"/>
              </a:rPr>
              <a:t>Average ticket
resolution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1807" y="2194560"/>
            <a:ext cx="3383280" cy="292608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1807" y="2194560"/>
            <a:ext cx="3383280" cy="1371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127" y="256032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127" y="41148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222B"/>
                </a:solidFill>
                <a:latin typeface="Calibri"/>
              </a:rPr>
              <a:t>Data incidents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385"/>
                </a:solidFill>
                <a:latin typeface="Calibri"/>
              </a:rPr>
              <a:t>CONFIDENTIAL  ·  ACME CORP QBR  ·  APRIL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385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Calibri"/>
              </a:rPr>
              <a:t>2026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6B7385"/>
                </a:solidFill>
                <a:latin typeface="Calibri"/>
              </a:rPr>
              <a:t>Shared roadmap: building the next phase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731520" cy="41148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7627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222B"/>
                </a:solidFill>
                <a:latin typeface="Calibri"/>
              </a:rPr>
              <a:t>Advanced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5603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385"/>
                </a:solidFill>
                <a:latin typeface="Calibri"/>
              </a:rPr>
              <a:t>Real-time statistical and ML-driven outlier surfacing across ingested streams.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00400"/>
            <a:ext cx="731520" cy="41148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1821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222B"/>
                </a:solidFill>
                <a:latin typeface="Calibri"/>
              </a:rPr>
              <a:t>Multi-region data residency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56616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385"/>
                </a:solidFill>
                <a:latin typeface="Calibri"/>
              </a:rPr>
              <a:t>EU + APAC primary regions with compliance-aligned routing.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206240"/>
            <a:ext cx="731520" cy="41148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18795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222B"/>
                </a:solidFill>
                <a:latin typeface="Calibri"/>
              </a:rPr>
              <a:t>Native LLM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57200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385"/>
                </a:solidFill>
                <a:latin typeface="Calibri"/>
              </a:rPr>
              <a:t>First-class primitives for semantic search, retrieval, and grounded Q&amp;A.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12079"/>
            <a:ext cx="731520" cy="41148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19379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222B"/>
                </a:solidFill>
                <a:latin typeface="Calibri"/>
              </a:rPr>
              <a:t>Expanded EMEA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57784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385"/>
                </a:solidFill>
                <a:latin typeface="Calibri"/>
              </a:rPr>
              <a:t>Regional support coverage and a named CSM for the EMEA business unit.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385"/>
                </a:solidFill>
                <a:latin typeface="Calibri"/>
              </a:rPr>
              <a:t>CONFIDENTIAL  ·  ACME CORP QBR  ·  APRIL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385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E2761"/>
                </a:solidFill>
                <a:latin typeface="Calibri"/>
              </a:rPr>
              <a:t>Renewal and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385"/>
                </a:solidFill>
                <a:latin typeface="Calibri"/>
              </a:rPr>
              <a:t>A proposal designed for the next phase of the partnership.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37160" cy="11887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40279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PROPOSED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222B"/>
                </a:solidFill>
                <a:latin typeface="Calibri"/>
              </a:rPr>
              <a:t>3-year renewal with locked-in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80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385"/>
                </a:solidFill>
                <a:latin typeface="Calibri"/>
              </a:rPr>
              <a:t>Price certainty through 2029. No annual increases.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29000"/>
            <a:ext cx="10515600" cy="118872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429000"/>
            <a:ext cx="137160" cy="11887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56616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EXPANDED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404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222B"/>
                </a:solidFill>
                <a:latin typeface="Calibri"/>
              </a:rPr>
              <a:t>EMEA business unit 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206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385"/>
                </a:solidFill>
                <a:latin typeface="Calibri"/>
              </a:rPr>
              <a:t>Extend platform coverage to the EMEA BU, with regional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754880"/>
            <a:ext cx="137160" cy="11887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8920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Calibri"/>
              </a:rPr>
              <a:t>EXECUTIVE SPONSOR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1663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222B"/>
                </a:solidFill>
                <a:latin typeface="Calibri"/>
              </a:rPr>
              <a:t>Named executive sponsors on both sides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385"/>
                </a:solidFill>
                <a:latin typeface="Calibri"/>
              </a:rPr>
              <a:t>Quarterly executive cadence; priority access for roadmap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385"/>
                </a:solidFill>
                <a:latin typeface="Calibri"/>
              </a:rPr>
              <a:t>CONFIDENTIAL  ·  ACME CORP QBR  ·  APRIL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385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457200" cy="109728"/>
          </a:xfrm>
          <a:prstGeom prst="rect">
            <a:avLst/>
          </a:prstGeom>
          <a:solidFill>
            <a:srgbClr val="E8B54A"/>
          </a:solidFill>
          <a:ln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Open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 i="1">
                <a:solidFill>
                  <a:srgbClr val="CADCFC"/>
                </a:solidFill>
                <a:latin typeface="Calibri"/>
              </a:rPr>
              <a:t>What would make the next 12 months
a success for Acme?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CONFIDENTIAL  ·  ACME CORP QBR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385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